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32399288" cy="43200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3606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3F"/>
    <a:srgbClr val="20234B"/>
    <a:srgbClr val="3157A4"/>
    <a:srgbClr val="314077"/>
    <a:srgbClr val="274077"/>
    <a:srgbClr val="85A826"/>
    <a:srgbClr val="254027"/>
    <a:srgbClr val="D5DF2E"/>
    <a:srgbClr val="8C0343"/>
    <a:srgbClr val="B700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-54" y="-1884"/>
      </p:cViewPr>
      <p:guideLst>
        <p:guide orient="horz" pos="13606"/>
        <p:guide pos="1020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customXml" Target="../customXml/item3.xml" /><Relationship Id="rId7" Type="http://schemas.openxmlformats.org/officeDocument/2006/relationships/presProps" Target="presProps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6" Type="http://schemas.openxmlformats.org/officeDocument/2006/relationships/notesMaster" Target="notesMasters/notesMaster1.xml" /><Relationship Id="rId5" Type="http://schemas.openxmlformats.org/officeDocument/2006/relationships/slide" Target="slides/slide1.xml" /><Relationship Id="rId10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9"/>
              <a:buFont typeface="Calibri" panose="020F0502020204030204"/>
              <a:buNone/>
              <a:defRPr sz="212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sz="8505"/>
            </a:lvl1pPr>
            <a:lvl2pPr lvl="1" algn="ctr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7085"/>
            </a:lvl2pPr>
            <a:lvl3pPr lvl="2" algn="ctr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sz="6380"/>
            </a:lvl3pPr>
            <a:lvl4pPr lvl="3" algn="ctr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/>
            </a:lvl4pPr>
            <a:lvl5pPr lvl="4" algn="ctr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/>
            </a:lvl5pPr>
            <a:lvl6pPr lvl="5" algn="ctr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/>
            </a:lvl6pPr>
            <a:lvl7pPr lvl="6" algn="ctr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/>
            </a:lvl7pPr>
            <a:lvl8pPr lvl="7" algn="ctr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/>
            </a:lvl8pPr>
            <a:lvl9pPr lvl="8" algn="ctr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9"/>
              <a:buFont typeface="Calibri" panose="020F0502020204030204"/>
              <a:buNone/>
              <a:defRPr sz="212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sz="8505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rgbClr val="888888"/>
              </a:buClr>
              <a:buSzPts val="7086"/>
              <a:buNone/>
              <a:defRPr sz="708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rgbClr val="888888"/>
              </a:buClr>
              <a:buSzPts val="6378"/>
              <a:buNone/>
              <a:defRPr sz="638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7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7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7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7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7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7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227451" y="11500170"/>
            <a:ext cx="13769697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6402140" y="11500170"/>
            <a:ext cx="13769697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sz="8505" b="1"/>
            </a:lvl1pPr>
            <a:lvl2pPr marL="914400" lvl="1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7085" b="1"/>
            </a:lvl2pPr>
            <a:lvl3pPr marL="1371600" lvl="2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sz="6380" b="1"/>
            </a:lvl3pPr>
            <a:lvl4pPr marL="1828800" lvl="3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4pPr>
            <a:lvl5pPr marL="2286000" lvl="4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5pPr>
            <a:lvl6pPr marL="2743200" lvl="5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6pPr>
            <a:lvl7pPr marL="3200400" lvl="6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7pPr>
            <a:lvl8pPr marL="3657600" lvl="7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8pPr>
            <a:lvl9pPr marL="4114800" lvl="8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231675" y="15780233"/>
            <a:ext cx="13706415" cy="23210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6402142" y="10590160"/>
            <a:ext cx="13773917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sz="8505" b="1"/>
            </a:lvl1pPr>
            <a:lvl2pPr marL="914400" lvl="1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7085" b="1"/>
            </a:lvl2pPr>
            <a:lvl3pPr marL="1371600" lvl="2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sz="6380" b="1"/>
            </a:lvl3pPr>
            <a:lvl4pPr marL="1828800" lvl="3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4pPr>
            <a:lvl5pPr marL="2286000" lvl="4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5pPr>
            <a:lvl6pPr marL="2743200" lvl="5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6pPr>
            <a:lvl7pPr marL="3200400" lvl="6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7pPr>
            <a:lvl8pPr marL="3657600" lvl="7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8pPr>
            <a:lvl9pPr marL="4114800" lvl="8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6402142" y="15780233"/>
            <a:ext cx="13773917" cy="23210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38"/>
              <a:buFont typeface="Calibri" panose="020F0502020204030204"/>
              <a:buNone/>
              <a:defRPr sz="113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94869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11338"/>
              <a:buChar char="•"/>
              <a:defRPr sz="11340"/>
            </a:lvl1pPr>
            <a:lvl2pPr marL="914400" lvl="1" indent="-85852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9921"/>
              <a:buChar char="•"/>
              <a:defRPr sz="9920"/>
            </a:lvl2pPr>
            <a:lvl3pPr marL="1371600" lvl="2" indent="-76835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8504"/>
              <a:buChar char="•"/>
              <a:defRPr sz="8505"/>
            </a:lvl3pPr>
            <a:lvl4pPr marL="1828800" lvl="3" indent="-678815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5"/>
            </a:lvl4pPr>
            <a:lvl5pPr marL="2286000" lvl="4" indent="-678815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5"/>
            </a:lvl5pPr>
            <a:lvl6pPr marL="2743200" lvl="5" indent="-678815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5"/>
            </a:lvl6pPr>
            <a:lvl7pPr marL="3200400" lvl="6" indent="-678815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5"/>
            </a:lvl7pPr>
            <a:lvl8pPr marL="3657600" lvl="7" indent="-678815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5"/>
            </a:lvl8pPr>
            <a:lvl9pPr marL="4114800" lvl="8" indent="-678815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5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/>
            </a:lvl1pPr>
            <a:lvl2pPr marL="914400" lvl="1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4960"/>
              <a:buNone/>
              <a:defRPr sz="4960"/>
            </a:lvl2pPr>
            <a:lvl3pPr marL="1371600" lvl="2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0"/>
            </a:lvl3pPr>
            <a:lvl4pPr marL="1828800" lvl="3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4pPr>
            <a:lvl5pPr marL="2286000" lvl="4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5pPr>
            <a:lvl6pPr marL="2743200" lvl="5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6pPr>
            <a:lvl7pPr marL="3200400" lvl="6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7pPr>
            <a:lvl8pPr marL="3657600" lvl="7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8pPr>
            <a:lvl9pPr marL="4114800" lvl="8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38"/>
              <a:buFont typeface="Calibri" panose="020F0502020204030204"/>
              <a:buNone/>
              <a:defRPr sz="113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70"/>
            </a:lvl1pPr>
            <a:lvl2pPr marL="914400" lvl="1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4960"/>
              <a:buNone/>
              <a:defRPr sz="4960"/>
            </a:lvl2pPr>
            <a:lvl3pPr marL="1371600" lvl="2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0"/>
            </a:lvl3pPr>
            <a:lvl4pPr marL="1828800" lvl="3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4pPr>
            <a:lvl5pPr marL="2286000" lvl="4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5pPr>
            <a:lvl6pPr marL="2743200" lvl="5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6pPr>
            <a:lvl7pPr marL="3200400" lvl="6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7pPr>
            <a:lvl8pPr marL="3657600" lvl="7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8pPr>
            <a:lvl9pPr marL="4114800" lvl="8" indent="-2286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0" y="11233181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8" y="17112258"/>
            <a:ext cx="36610544" cy="6986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70" y="10328657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90"/>
              <a:buFont typeface="Calibri" panose="020F0502020204030204"/>
              <a:buNone/>
              <a:defRPr sz="1559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58520" algn="l" rtl="0">
              <a:lnSpc>
                <a:spcPct val="90000"/>
              </a:lnSpc>
              <a:spcBef>
                <a:spcPts val="3545"/>
              </a:spcBef>
              <a:spcAft>
                <a:spcPts val="0"/>
              </a:spcAft>
              <a:buClr>
                <a:schemeClr val="dk1"/>
              </a:buClr>
              <a:buSzPts val="9921"/>
              <a:buFont typeface="Arial" panose="020B0604020202020204"/>
              <a:buChar char="•"/>
              <a:defRPr sz="99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768350" algn="l" rtl="0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Arial" panose="020B0604020202020204"/>
              <a:buChar char="•"/>
              <a:defRPr sz="850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678815" algn="l" rtl="0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7086"/>
              <a:buFont typeface="Arial" panose="020B0604020202020204"/>
              <a:buChar char="•"/>
              <a:defRPr sz="708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633730" algn="l" rtl="0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 panose="020B0604020202020204"/>
              <a:buChar char="•"/>
              <a:defRPr sz="638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633730" algn="l" rtl="0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 panose="020B0604020202020204"/>
              <a:buChar char="•"/>
              <a:defRPr sz="638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633730" algn="l" rtl="0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 panose="020B0604020202020204"/>
              <a:buChar char="•"/>
              <a:defRPr sz="638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633730" algn="l" rtl="0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 panose="020B0604020202020204"/>
              <a:buChar char="•"/>
              <a:defRPr sz="638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633730" algn="l" rtl="0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 panose="020B0604020202020204"/>
              <a:buChar char="•"/>
              <a:defRPr sz="638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633730" algn="l" rtl="0">
              <a:lnSpc>
                <a:spcPct val="90000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 panose="020B0604020202020204"/>
              <a:buChar char="•"/>
              <a:defRPr sz="638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14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2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42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42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42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42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42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42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42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42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21AF8DB-B608-4C88-8E4A-2BD6EAB3F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399288" cy="43207518"/>
          </a:xfrm>
          <a:prstGeom prst="rect">
            <a:avLst/>
          </a:prstGeom>
        </p:spPr>
      </p:pic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2032366" y="7186641"/>
            <a:ext cx="13696743" cy="554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l">
              <a:buSzPts val="8000"/>
              <a:buFont typeface="Arial" panose="020B0604020202020204"/>
            </a:pPr>
            <a:r>
              <a:rPr lang="pt-BR" sz="8000" b="1" dirty="0">
                <a:solidFill>
                  <a:srgbClr val="0100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CBA - Comedouro e Bebedouro Automatizado para animais</a:t>
            </a:r>
            <a:endParaRPr lang="pt-BR" sz="8000" b="1" dirty="0">
              <a:solidFill>
                <a:srgbClr val="01003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974722" y="12718101"/>
            <a:ext cx="13696743" cy="242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0247"/>
              </a:buClr>
              <a:buSzPts val="6000"/>
              <a:buFont typeface="Arial" panose="020B0604020202020204"/>
              <a:buNone/>
            </a:pPr>
            <a:r>
              <a:rPr lang="pt-BR" sz="6000" b="1" i="0" u="none" strike="noStrike" cap="none">
                <a:solidFill>
                  <a:srgbClr val="0100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Introdução</a:t>
            </a:r>
            <a:endParaRPr sz="12400" b="1" i="0" u="none" strike="noStrike" cap="none">
              <a:solidFill>
                <a:srgbClr val="01003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019786" y="19928691"/>
            <a:ext cx="13696743" cy="242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lnSpc>
                <a:spcPct val="90000"/>
              </a:lnSpc>
              <a:buClr>
                <a:srgbClr val="2A0247"/>
              </a:buClr>
              <a:buSzPts val="6000"/>
            </a:pPr>
            <a:r>
              <a:rPr lang="pt-BR" sz="6000" b="1" dirty="0">
                <a:solidFill>
                  <a:srgbClr val="01003F"/>
                </a:solidFill>
              </a:rPr>
              <a:t>Método</a:t>
            </a:r>
            <a:endParaRPr sz="8800" b="1" i="0" u="none" strike="noStrike" cap="none" dirty="0">
              <a:solidFill>
                <a:srgbClr val="01003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0803824" y="6680720"/>
            <a:ext cx="2905262" cy="102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0247"/>
              </a:buClr>
              <a:buSzPts val="2000"/>
              <a:buFont typeface="Arial" panose="020B0604020202020204"/>
              <a:buNone/>
            </a:pPr>
            <a:r>
              <a:rPr lang="pt-BR" sz="2800" b="1" i="0" u="none" strike="noStrike" cap="none" dirty="0">
                <a:solidFill>
                  <a:srgbClr val="3157A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Orientador(a):</a:t>
            </a:r>
          </a:p>
        </p:txBody>
      </p:sp>
      <p:sp>
        <p:nvSpPr>
          <p:cNvPr id="97" name="Google Shape;97;p1"/>
          <p:cNvSpPr txBox="1"/>
          <p:nvPr/>
        </p:nvSpPr>
        <p:spPr>
          <a:xfrm>
            <a:off x="20803824" y="4489684"/>
            <a:ext cx="2417163" cy="100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0247"/>
              </a:buClr>
              <a:buSzPts val="2000"/>
              <a:buFont typeface="Arial" panose="020B0604020202020204"/>
              <a:buNone/>
            </a:pPr>
            <a:r>
              <a:rPr lang="pt-BR" sz="2800" b="1" i="0" u="none" strike="noStrike" cap="none" dirty="0">
                <a:solidFill>
                  <a:srgbClr val="3157A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Autor(a)(es):</a:t>
            </a:r>
          </a:p>
        </p:txBody>
      </p:sp>
      <p:sp>
        <p:nvSpPr>
          <p:cNvPr id="98" name="Google Shape;98;p1"/>
          <p:cNvSpPr txBox="1"/>
          <p:nvPr/>
        </p:nvSpPr>
        <p:spPr>
          <a:xfrm>
            <a:off x="16845431" y="29876292"/>
            <a:ext cx="13696743" cy="242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0247"/>
              </a:buClr>
              <a:buSzPts val="6000"/>
              <a:buFont typeface="Arial" panose="020B0604020202020204"/>
              <a:buNone/>
            </a:pPr>
            <a:r>
              <a:rPr lang="pt-BR" sz="6000" b="1" i="0" u="none" strike="noStrike" cap="none" dirty="0">
                <a:solidFill>
                  <a:srgbClr val="0100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Considerações finais</a:t>
            </a:r>
            <a:endParaRPr sz="10300" b="1" i="0" u="none" strike="noStrike" cap="none" dirty="0">
              <a:solidFill>
                <a:srgbClr val="01003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6934436" y="34842129"/>
            <a:ext cx="13696743" cy="242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0247"/>
              </a:buClr>
              <a:buSzPts val="6000"/>
              <a:buFont typeface="Arial" panose="020B0604020202020204"/>
              <a:buNone/>
            </a:pPr>
            <a:r>
              <a:rPr lang="pt-BR" sz="6000" b="1" i="0" u="none" strike="noStrike" cap="none" dirty="0">
                <a:solidFill>
                  <a:srgbClr val="0100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Referências</a:t>
            </a:r>
            <a:endParaRPr sz="8800" b="1" i="0" u="none" strike="noStrike" cap="none" dirty="0">
              <a:solidFill>
                <a:srgbClr val="01003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23578514" y="4596427"/>
            <a:ext cx="8415360" cy="219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2A0247"/>
              </a:buClr>
              <a:buSzPts val="2000"/>
            </a:pPr>
            <a:r>
              <a:rPr lang="pt-BR" sz="2800" dirty="0">
                <a:solidFill>
                  <a:srgbClr val="3157A4"/>
                </a:solidFill>
              </a:rPr>
              <a:t>Ana Clara Santos Pereira</a:t>
            </a:r>
          </a:p>
          <a:p>
            <a:pPr>
              <a:buSzPts val="2000"/>
            </a:pPr>
            <a:r>
              <a:rPr lang="pt-BR" sz="2800" dirty="0">
                <a:solidFill>
                  <a:srgbClr val="3157A4"/>
                </a:solidFill>
              </a:rPr>
              <a:t>Gabrielly Carvalho Tozetto Santos</a:t>
            </a:r>
          </a:p>
          <a:p>
            <a:pPr>
              <a:buSzPts val="2000"/>
            </a:pPr>
            <a:r>
              <a:rPr lang="pt-BR" sz="2800" dirty="0">
                <a:solidFill>
                  <a:srgbClr val="3157A4"/>
                </a:solidFill>
              </a:rPr>
              <a:t>Julia Karollyne de Oliveira dos Santos</a:t>
            </a:r>
          </a:p>
          <a:p>
            <a:pPr>
              <a:buSzPts val="2000"/>
            </a:pPr>
            <a:r>
              <a:rPr lang="pt-BR" sz="2800" dirty="0">
                <a:solidFill>
                  <a:srgbClr val="3157A4"/>
                </a:solidFill>
              </a:rPr>
              <a:t>Quezia Queren Nunes Luiz</a:t>
            </a:r>
          </a:p>
        </p:txBody>
      </p:sp>
      <p:sp>
        <p:nvSpPr>
          <p:cNvPr id="103" name="Google Shape;103;p1"/>
          <p:cNvSpPr txBox="1"/>
          <p:nvPr/>
        </p:nvSpPr>
        <p:spPr>
          <a:xfrm>
            <a:off x="23610128" y="6886324"/>
            <a:ext cx="8415360" cy="148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2A0247"/>
              </a:buClr>
              <a:buSzPts val="2000"/>
            </a:pPr>
            <a:r>
              <a:rPr lang="pt-BR" sz="2800" dirty="0">
                <a:solidFill>
                  <a:srgbClr val="3157A4"/>
                </a:solidFill>
              </a:rPr>
              <a:t>Flavio Matheus Pereira.</a:t>
            </a:r>
          </a:p>
          <a:p>
            <a:pPr>
              <a:buSzPts val="2000"/>
            </a:pPr>
            <a:r>
              <a:rPr lang="pt-BR" sz="2800" dirty="0">
                <a:solidFill>
                  <a:srgbClr val="3157A4"/>
                </a:solidFill>
              </a:rPr>
              <a:t>Reginaldo Luiz Gonçalves.</a:t>
            </a:r>
            <a:endParaRPr lang="pt-BR" sz="2800" b="0" i="0" u="none" strike="noStrike" cap="none" dirty="0">
              <a:solidFill>
                <a:srgbClr val="3157A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SzPts val="2000"/>
            </a:pPr>
            <a:endParaRPr lang="pt-BR" sz="2800" dirty="0">
              <a:solidFill>
                <a:srgbClr val="3157A4"/>
              </a:solidFill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019786" y="4573493"/>
            <a:ext cx="8856369" cy="176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44B8B8"/>
              </a:buClr>
              <a:buSzPts val="2400"/>
              <a:buFont typeface="Arial" panose="020B0604020202020204"/>
              <a:buNone/>
            </a:pPr>
            <a:r>
              <a:rPr lang="pt-BR" sz="3600" b="1" i="1" u="none" strike="noStrike" cap="none" dirty="0">
                <a:solidFill>
                  <a:srgbClr val="20234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ENCONTRO DE INICIAÇÃO CIENTÍFICA – </a:t>
            </a:r>
            <a:r>
              <a:rPr lang="pt-BR" sz="3600" b="1" i="1" dirty="0">
                <a:solidFill>
                  <a:srgbClr val="20234B"/>
                </a:solidFill>
              </a:rPr>
              <a:t>ENICJR</a:t>
            </a:r>
            <a:endParaRPr lang="pt-BR" sz="3600" b="1" i="1" u="none" strike="noStrike" cap="none" dirty="0">
              <a:solidFill>
                <a:srgbClr val="20234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16958399" y="8405413"/>
            <a:ext cx="11758697" cy="118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0247"/>
              </a:buClr>
              <a:buSzPts val="3200"/>
              <a:buFont typeface="Arial" panose="020B0604020202020204"/>
              <a:buNone/>
            </a:pPr>
            <a:r>
              <a:rPr lang="pt-BR" sz="3200" b="1" i="0" u="none" strike="noStrike" cap="none" dirty="0">
                <a:solidFill>
                  <a:srgbClr val="0100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Figura </a:t>
            </a:r>
            <a:r>
              <a:rPr lang="pt-BR" sz="3200" b="1" dirty="0">
                <a:solidFill>
                  <a:srgbClr val="01003F"/>
                </a:solidFill>
              </a:rPr>
              <a:t>2 – Modelo 3D do sistema.</a:t>
            </a:r>
            <a:endParaRPr lang="pt-BR" sz="3200" b="1" i="0" u="none" strike="noStrike" cap="none" dirty="0">
              <a:solidFill>
                <a:srgbClr val="01003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6730143" y="19475847"/>
            <a:ext cx="11758697" cy="118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0247"/>
              </a:buClr>
              <a:buSzPts val="3200"/>
              <a:buFont typeface="Arial" panose="020B0604020202020204"/>
              <a:buNone/>
            </a:pPr>
            <a:r>
              <a:rPr lang="pt-BR" sz="3200" b="1" i="0" u="none" strike="noStrike" cap="none" dirty="0">
                <a:solidFill>
                  <a:srgbClr val="0100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Figura 3</a:t>
            </a:r>
            <a:r>
              <a:rPr lang="pt-BR" sz="3200" b="1" dirty="0">
                <a:solidFill>
                  <a:srgbClr val="01003F"/>
                </a:solidFill>
              </a:rPr>
              <a:t> – Figura 3D do projeto</a:t>
            </a:r>
            <a:endParaRPr lang="pt-BR" sz="3200" b="1" i="0" u="none" strike="noStrike" cap="none" dirty="0">
              <a:solidFill>
                <a:srgbClr val="01003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6997362" y="28461006"/>
            <a:ext cx="11758697" cy="118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2A0247"/>
              </a:buClr>
              <a:buSzPts val="3200"/>
            </a:pPr>
            <a:r>
              <a:rPr lang="pt-BR" sz="3200" b="1" dirty="0">
                <a:solidFill>
                  <a:srgbClr val="01003F"/>
                </a:solidFill>
              </a:rPr>
              <a:t>Autores, 2025</a:t>
            </a:r>
          </a:p>
        </p:txBody>
      </p:sp>
      <p:sp>
        <p:nvSpPr>
          <p:cNvPr id="109" name="Google Shape;109;p1"/>
          <p:cNvSpPr txBox="1"/>
          <p:nvPr/>
        </p:nvSpPr>
        <p:spPr>
          <a:xfrm>
            <a:off x="16730143" y="17631357"/>
            <a:ext cx="11758697" cy="118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2A0247"/>
              </a:buClr>
              <a:buSzPts val="3200"/>
            </a:pPr>
            <a:r>
              <a:rPr lang="pt-BR" sz="3200" b="1" dirty="0">
                <a:solidFill>
                  <a:srgbClr val="01003F"/>
                </a:solidFill>
              </a:rPr>
              <a:t>labovet.com, </a:t>
            </a:r>
            <a:r>
              <a:rPr lang="pt-BR" sz="3200" b="1" i="0" u="none" strike="noStrike" cap="none" dirty="0">
                <a:solidFill>
                  <a:srgbClr val="0100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2022</a:t>
            </a:r>
          </a:p>
        </p:txBody>
      </p:sp>
      <p:sp>
        <p:nvSpPr>
          <p:cNvPr id="110" name="Google Shape;110;p1"/>
          <p:cNvSpPr txBox="1"/>
          <p:nvPr/>
        </p:nvSpPr>
        <p:spPr>
          <a:xfrm>
            <a:off x="1972402" y="32043436"/>
            <a:ext cx="11758697" cy="118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lnSpc>
                <a:spcPct val="90000"/>
              </a:lnSpc>
              <a:buClr>
                <a:srgbClr val="2A0247"/>
              </a:buClr>
              <a:buSzPts val="3200"/>
            </a:pPr>
            <a:r>
              <a:rPr lang="pt-BR" sz="3200" b="1" dirty="0">
                <a:solidFill>
                  <a:srgbClr val="01003F"/>
                </a:solidFill>
              </a:rPr>
              <a:t>Figura 1 - Logo da Empresa</a:t>
            </a:r>
            <a:endParaRPr lang="pt-BR" sz="3200" b="1" i="0" u="none" strike="noStrike" cap="none" dirty="0">
              <a:solidFill>
                <a:srgbClr val="01003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969135" y="40602298"/>
            <a:ext cx="11758697" cy="118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0247"/>
              </a:buClr>
              <a:buSzPts val="3200"/>
              <a:buFont typeface="Arial" panose="020B0604020202020204"/>
              <a:buNone/>
            </a:pPr>
            <a:r>
              <a:rPr lang="pt-BR" sz="3200" b="1" dirty="0">
                <a:solidFill>
                  <a:srgbClr val="01003F"/>
                </a:solidFill>
              </a:rPr>
              <a:t>Autores</a:t>
            </a:r>
            <a:r>
              <a:rPr lang="pt-BR" sz="3200" b="1" i="0" u="none" strike="noStrike" cap="none" dirty="0">
                <a:solidFill>
                  <a:srgbClr val="0100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pt-BR" sz="3200" b="1" dirty="0">
                <a:solidFill>
                  <a:srgbClr val="01003F"/>
                </a:solidFill>
              </a:rPr>
              <a:t>2025</a:t>
            </a:r>
            <a:endParaRPr lang="pt-BR" sz="3200" b="1" i="0" u="none" strike="noStrike" cap="none" dirty="0">
              <a:solidFill>
                <a:srgbClr val="01003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1974195" y="25386929"/>
            <a:ext cx="13696743" cy="242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0247"/>
              </a:buClr>
              <a:buSzPts val="6000"/>
              <a:buFont typeface="Arial" panose="020B0604020202020204"/>
              <a:buNone/>
            </a:pPr>
            <a:r>
              <a:rPr lang="pt-BR" sz="6000" b="1" i="0" u="none" strike="noStrike" cap="none" dirty="0">
                <a:solidFill>
                  <a:srgbClr val="0100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Resultados</a:t>
            </a:r>
            <a:endParaRPr sz="8800" b="1" i="0" u="none" strike="noStrike" cap="none" dirty="0">
              <a:solidFill>
                <a:srgbClr val="01003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2019790" y="6352708"/>
            <a:ext cx="7947839" cy="113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44B8B8"/>
              </a:buClr>
              <a:buSzPts val="2400"/>
            </a:pPr>
            <a:r>
              <a:rPr lang="pt-BR" sz="2400" b="1" i="1" dirty="0">
                <a:solidFill>
                  <a:srgbClr val="20234B"/>
                </a:solidFill>
              </a:rPr>
              <a:t>Número do trabalho Even3 </a:t>
            </a:r>
            <a:r>
              <a:rPr lang="pt-BR" sz="2400" b="1" i="1" u="none" strike="noStrike" cap="none" dirty="0">
                <a:solidFill>
                  <a:srgbClr val="20234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</a:t>
            </a:r>
            <a:r>
              <a:rPr lang="pt-BR" sz="2400" b="1" i="1" dirty="0">
                <a:solidFill>
                  <a:srgbClr val="20234B"/>
                </a:solidFill>
              </a:rPr>
              <a:t>1311103</a:t>
            </a:r>
            <a:r>
              <a:rPr lang="pt-BR" sz="2400" b="1" i="1" u="none" strike="noStrike" cap="none" dirty="0">
                <a:solidFill>
                  <a:srgbClr val="20234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579E39E-8EF5-790C-ABDE-500B113AA09B}"/>
              </a:ext>
            </a:extLst>
          </p:cNvPr>
          <p:cNvSpPr txBox="1"/>
          <p:nvPr/>
        </p:nvSpPr>
        <p:spPr>
          <a:xfrm>
            <a:off x="1985286" y="14453476"/>
            <a:ext cx="12685672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solidFill>
                  <a:srgbClr val="01003F"/>
                </a:solidFill>
              </a:rPr>
              <a:t>O calor excessivo tem causado desidratação, fadiga e até insolação em animais de rua, que têm acesso limitado à água limpa ou abrigo adequado, e animais domésticos, que não tem os tutores em casa a dispor o dia todo. Além da desidratação um grande problema é a fome e desnutrição. Nesse contexto, foi elaborado o projeto “Comedouro e Bebedouro Automatizado”, cujo objetivo é garantir que ambos tenham acesso contínuo a água e comida de forma automatizada</a:t>
            </a:r>
            <a:r>
              <a:rPr lang="pt-BR" dirty="0">
                <a:solidFill>
                  <a:srgbClr val="01003F"/>
                </a:solidFill>
              </a:rPr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4248A94-A2ED-C2F5-E2DA-7E5CB33C40F4}"/>
              </a:ext>
            </a:extLst>
          </p:cNvPr>
          <p:cNvSpPr txBox="1"/>
          <p:nvPr/>
        </p:nvSpPr>
        <p:spPr>
          <a:xfrm>
            <a:off x="1985286" y="21604508"/>
            <a:ext cx="12685672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solidFill>
                  <a:srgbClr val="01003F"/>
                </a:solidFill>
              </a:rPr>
              <a:t>O sistema foi desenvolvido como um aplicativo que se integra a sistemas embarcados, aplicando métodos de programação mobile e componentes do Arduino, como sensores de peso, jumpers e micro servo motor, permitindo controlar e monitorar o abastecimento de água e comida remotamente, podendo ser configurado para funcionar em intervalos de tempo definidos ou de forma contínua.</a:t>
            </a:r>
            <a:endParaRPr lang="en-US" sz="3200" dirty="0">
              <a:solidFill>
                <a:srgbClr val="01003F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835C8CE-0079-BBC0-CD62-5965CA2F9701}"/>
              </a:ext>
            </a:extLst>
          </p:cNvPr>
          <p:cNvSpPr txBox="1"/>
          <p:nvPr/>
        </p:nvSpPr>
        <p:spPr>
          <a:xfrm>
            <a:off x="1985286" y="27068308"/>
            <a:ext cx="12685673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solidFill>
                  <a:srgbClr val="01003F"/>
                </a:solidFill>
              </a:rPr>
              <a:t>O projeto deve proporcionar alimento e água de forma constante ao animal enquanto houver suprimento no reservatório. Além disso, a automatização do processo garante praticidade para os tutores de animais domésticos, que podem monitorar e controlar o abastecimento mesmo à distância, evitando problemas de desnutrição ou desidratação em situações de ausência.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F78741-5CBB-ED9F-483E-4EE0587F9F0D}"/>
              </a:ext>
            </a:extLst>
          </p:cNvPr>
          <p:cNvSpPr txBox="1"/>
          <p:nvPr/>
        </p:nvSpPr>
        <p:spPr>
          <a:xfrm>
            <a:off x="16919019" y="31771993"/>
            <a:ext cx="1384615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solidFill>
                  <a:srgbClr val="01003F"/>
                </a:solidFill>
              </a:rPr>
              <a:t>Diante desse cenário, conclui-se que a implementação do projeto Comedouro e Bebedouro Automatizado proporcionará uma vida mais saudável e digna aos animais, diminuindo a taxa de mortalidade por desidratação e desnutrição de animais de rua e facilitando a rotina de tutores ausentes para que o animal doméstico não fique sem água ou comida durante o dia.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62D641B-92DD-440B-204E-BEFCAC8FFA90}"/>
              </a:ext>
            </a:extLst>
          </p:cNvPr>
          <p:cNvSpPr txBox="1"/>
          <p:nvPr/>
        </p:nvSpPr>
        <p:spPr>
          <a:xfrm>
            <a:off x="16981392" y="36583846"/>
            <a:ext cx="1384615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solidFill>
                  <a:srgbClr val="01003F"/>
                </a:solidFill>
              </a:rPr>
              <a:t>CASTRO, Sarah Espíndola. Secretaria do Meio Ambiente orienta sobre cuidados com os animais de rua e pets durante o calor intenso, https://www.semae.sc.gov.br/secretaria-do-meio-ambiente-orienta-sobre-cuidados-com-os-animais-de-rua-e-pets-durante-o-calor-intenso, 2025. 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52" b="22448"/>
          <a:stretch/>
        </p:blipFill>
        <p:spPr>
          <a:xfrm>
            <a:off x="3057345" y="34400899"/>
            <a:ext cx="9582276" cy="503068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6315" y="21040832"/>
            <a:ext cx="12105123" cy="7420174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BFADE733-1C72-4922-8557-5CFCB3A26D2F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8332" y="10492424"/>
            <a:ext cx="11564782" cy="6497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68ACED7999E994CABC3054230FFA6C4" ma:contentTypeVersion="4" ma:contentTypeDescription="Crie um novo documento." ma:contentTypeScope="" ma:versionID="d22e50dbe8d8d7abaffcbbf528974d8d">
  <xsd:schema xmlns:xsd="http://www.w3.org/2001/XMLSchema" xmlns:xs="http://www.w3.org/2001/XMLSchema" xmlns:p="http://schemas.microsoft.com/office/2006/metadata/properties" xmlns:ns2="0447299c-27cc-48df-bec0-208de4650fa7" targetNamespace="http://schemas.microsoft.com/office/2006/metadata/properties" ma:root="true" ma:fieldsID="d8e1185f9fb5c55323d29fc2413b4ad1" ns2:_="">
    <xsd:import namespace="0447299c-27cc-48df-bec0-208de4650f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7299c-27cc-48df-bec0-208de4650f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1ACF9A-1C2D-4511-9DC5-55334AFF8A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51B971-43C2-406C-BFE0-F21D7FED49DA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0447299c-27cc-48df-bec0-208de4650fa7"/>
  </ds:schemaRefs>
</ds:datastoreItem>
</file>

<file path=customXml/itemProps3.xml><?xml version="1.0" encoding="utf-8"?>
<ds:datastoreItem xmlns:ds="http://schemas.openxmlformats.org/officeDocument/2006/customXml" ds:itemID="{25D535C7-976A-4A27-B331-494BE7473236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398</Words>
  <Application>Microsoft Office PowerPoint</Application>
  <PresentationFormat>Personalizar</PresentationFormat>
  <Paragraphs>27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CBA - Comedouro e Bebedouro Automatizado para animais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lorem ipsum dolor sit amet consectetur adipiscing elit morbi imperdiet mattis dignissim</dc:title>
  <dc:creator>Acom</dc:creator>
  <cp:lastModifiedBy>JULIA KAROLLYNE DE OLIVEIRA DOS SANTOS</cp:lastModifiedBy>
  <cp:revision>342</cp:revision>
  <dcterms:created xsi:type="dcterms:W3CDTF">2022-10-06T23:47:46Z</dcterms:created>
  <dcterms:modified xsi:type="dcterms:W3CDTF">2025-11-07T19:58:13Z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20E4C4D62E894EB9B2C257590F09E4AB</vt:lpwstr>
  </property>
  <property fmtid="{D5CDD505-2E9C-101B-9397-08002B2CF9AE}" pid="3" name="KSOProductBuildVer">
    <vt:lpwstr>1046-11.2.0.11341</vt:lpwstr>
  </property>
  <property fmtid="{D5CDD505-2E9C-101B-9397-08002B2CF9AE}" pid="4" name="ContentTypeId">
    <vt:lpwstr>0x010100468ACED7999E994CABC3054230FFA6C4</vt:lpwstr>
  </property>
</Properties>
</file>